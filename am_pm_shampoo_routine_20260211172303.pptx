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9522" b="29522"/>
          <a:stretch/>
        </p:blipFill>
        <p:spPr>
          <a:xfrm>
            <a:off x="761695" y="2253082"/>
            <a:ext cx="10668305" cy="24387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6246" y="2253082"/>
            <a:ext cx="9144" cy="2438705"/>
          </a:xfrm>
          <a:prstGeom prst="roundRect">
            <a:avLst>
              <a:gd name="adj" fmla="val 46875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521" r="-521" t="0" b="0"/>
          <a:stretch/>
        </p:blipFill>
        <p:spPr>
          <a:xfrm>
            <a:off x="952805" y="2443277"/>
            <a:ext cx="838505" cy="228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2805" y="2443277"/>
            <a:ext cx="838505" cy="228600"/>
          </a:xfrm>
          <a:prstGeom prst="rect">
            <a:avLst/>
          </a:prstGeom>
          <a:noFill/>
          <a:ln/>
        </p:spPr>
      </p:sp>
      <p:sp>
        <p:nvSpPr>
          <p:cNvPr id="8" name="Text 4"/>
          <p:cNvSpPr/>
          <p:nvPr/>
        </p:nvSpPr>
        <p:spPr>
          <a:xfrm>
            <a:off x="952805" y="2443277"/>
            <a:ext cx="8385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 07:30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340" r="-340" t="0" b="0"/>
          <a:stretch/>
        </p:blipFill>
        <p:spPr>
          <a:xfrm>
            <a:off x="10406786" y="2443277"/>
            <a:ext cx="838505" cy="2286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406786" y="2443277"/>
            <a:ext cx="838505" cy="228600"/>
          </a:xfrm>
          <a:prstGeom prst="rect">
            <a:avLst/>
          </a:prstGeom>
          <a:noFill/>
          <a:ln/>
        </p:spPr>
      </p:sp>
      <p:sp>
        <p:nvSpPr>
          <p:cNvPr id="11" name="Text 6"/>
          <p:cNvSpPr/>
          <p:nvPr/>
        </p:nvSpPr>
        <p:spPr>
          <a:xfrm>
            <a:off x="10406786" y="2443277"/>
            <a:ext cx="8385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EDE9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22:00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609905" y="5128870"/>
            <a:ext cx="38770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E2E8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</a:t>
            </a:r>
            <a:endParaRPr lang="en-US" sz="4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9" b="-19"/>
          <a:stretch/>
        </p:blipFill>
        <p:spPr>
          <a:xfrm>
            <a:off x="5359298" y="5438851"/>
            <a:ext cx="2361895" cy="88605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521147" y="5791810"/>
            <a:ext cx="9427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5521147" y="5600700"/>
            <a:ext cx="1019556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FACE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6616598" y="5791810"/>
            <a:ext cx="9427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540703" y="5600700"/>
            <a:ext cx="1019556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SCALP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5521147" y="5876849"/>
            <a:ext cx="10003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아침/밤 루틴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다르게 사용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5521147" y="6010351"/>
            <a:ext cx="6830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다르게 사용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6559906" y="5876849"/>
            <a:ext cx="10003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아침/밤 루틴</a:t>
            </a:r>
            <a:pPr algn="r" indent="0" marL="0">
              <a:buNone/>
            </a:pPr>
            <a:endParaRPr lang="en-US" sz="9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같음?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6926580" y="6010351"/>
            <a:ext cx="63733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같음?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683703" y="5486400"/>
            <a:ext cx="3753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-26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우리는 샴푸를 ‘시간’에 맞춰 본 적이 없습니다.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7766914" y="5753405"/>
            <a:ext cx="3670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“두피도,</a:t>
            </a:r>
            <a:pPr algn="r" indent="0" marL="0">
              <a:buNone/>
            </a:pPr>
            <a:endParaRPr lang="en-US" sz="2200" dirty="0"/>
          </a:p>
          <a:p>
            <a:pPr algn="r" indent="0" marL="0">
              <a:buNone/>
            </a:pPr>
            <a:r>
              <a:rPr lang="en-US" sz="2200" b="1" dirty="0">
                <a:solidFill>
                  <a:srgbClr val="312E8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아침과 밤이 다릅니다.</a:t>
            </a:r>
            <a:pPr algn="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” 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3995014" y="457200"/>
            <a:ext cx="4203497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“아침에도 감고, 밤에도 감는데… </a:t>
            </a:r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이거 정말 괜찮은 걸까?</a:t>
            </a:r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” 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3991356" y="1433779"/>
            <a:ext cx="4210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 vs PM — Why do we use the same shampoo?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61695" y="5357470"/>
            <a:ext cx="19202" cy="97200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009498" y="5395874"/>
            <a:ext cx="4277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하루에 2번 샴푸하는 팀원의 고민에서 시작되었습니다.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두피가 상하지 않을까? 탈모가 오진 않을까? 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009498" y="5905195"/>
            <a:ext cx="42775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아침과 밤의 상태는 분명 다른데,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왜 우리는 항상 ‘같은 샴푸’를 쓰고 있을까요?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381305"/>
            <a:ext cx="11163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2번 세정</a:t>
            </a:r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소비자의 진짜 고민은 무엇일까요? 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800100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분석을 통해 발견한 반복 세정의 딜레마와 두피 건강의 위험성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09905" y="1143000"/>
            <a:ext cx="4412894" cy="375269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905" y="5048402"/>
            <a:ext cx="4419295" cy="590702"/>
          </a:xfrm>
          <a:prstGeom prst="roundRect">
            <a:avLst>
              <a:gd name="adj" fmla="val 2996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19986" y="5210251"/>
            <a:ext cx="33384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2번 세정 시 소비자 주요 걱정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72184" y="5269687"/>
            <a:ext cx="171907" cy="171907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" b="-3"/>
          <a:stretch/>
        </p:blipFill>
        <p:spPr>
          <a:xfrm>
            <a:off x="5404104" y="1143000"/>
            <a:ext cx="6178601" cy="449610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794553" y="1037844"/>
            <a:ext cx="3448202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946343" y="1047902"/>
            <a:ext cx="4038905" cy="24780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아침/저녁 </a:t>
            </a:r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제품</a:t>
            </a:r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2회 세정 시 문제점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6692494" y="1047902"/>
            <a:ext cx="84216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제품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860743" y="2595982"/>
            <a:ext cx="2657246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730338" y="2109521"/>
            <a:ext cx="923544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7147" y="2109521"/>
            <a:ext cx="761695" cy="761695"/>
          </a:xfrm>
          <a:prstGeom prst="ellips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45806" y="2348179"/>
            <a:ext cx="286207" cy="2862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95590" y="2909621"/>
            <a:ext cx="9948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건조, 각질, 자극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-1648" r="-1648" t="0" b="0"/>
          <a:stretch/>
        </p:blipFill>
        <p:spPr>
          <a:xfrm>
            <a:off x="9344254" y="2499970"/>
            <a:ext cx="171907" cy="190195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515246" y="2138782"/>
            <a:ext cx="1828800" cy="914400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-409" r="-409" t="0" b="0"/>
          <a:stretch/>
        </p:blipFill>
        <p:spPr>
          <a:xfrm>
            <a:off x="9525305" y="2147926"/>
            <a:ext cx="38405" cy="89519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011766" y="2338121"/>
            <a:ext cx="10241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염증성 탈모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10064801" y="2643530"/>
            <a:ext cx="733349" cy="209398"/>
          </a:xfrm>
          <a:prstGeom prst="rect">
            <a:avLst/>
          </a:prstGeom>
          <a:noFill/>
          <a:ln/>
        </p:spPr>
      </p:sp>
      <p:sp>
        <p:nvSpPr>
          <p:cNvPr id="24" name="Text 15"/>
          <p:cNvSpPr/>
          <p:nvPr/>
        </p:nvSpPr>
        <p:spPr>
          <a:xfrm>
            <a:off x="10064801" y="2643530"/>
            <a:ext cx="734263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HIGH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5641848" y="3386023"/>
            <a:ext cx="5705856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6860743" y="4186123"/>
            <a:ext cx="2657246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7694676" y="3700577"/>
            <a:ext cx="9902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7807147" y="3700577"/>
            <a:ext cx="761695" cy="761695"/>
          </a:xfrm>
          <a:prstGeom prst="ellipse">
            <a:avLst/>
          </a:prstGeom>
          <a:solidFill>
            <a:srgbClr val="FFFBEB"/>
          </a:solidFill>
          <a:ln w="25400">
            <a:solidFill>
              <a:srgbClr val="FEF3C7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-607" r="-607" t="0" b="0"/>
          <a:stretch/>
        </p:blipFill>
        <p:spPr>
          <a:xfrm>
            <a:off x="8007401" y="3938321"/>
            <a:ext cx="362102" cy="286207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669987" y="4500677"/>
            <a:ext cx="10415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유분 과다, 비듬균</a:t>
            </a:r>
            <a:endParaRPr lang="en-US" sz="9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-1648" r="-1648" t="0" b="0"/>
          <a:stretch/>
        </p:blipFill>
        <p:spPr>
          <a:xfrm>
            <a:off x="9344254" y="4091026"/>
            <a:ext cx="171907" cy="190195"/>
          </a:xfrm>
          <a:prstGeom prst="rect">
            <a:avLst/>
          </a:prstGeom>
        </p:spPr>
      </p:pic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515246" y="3728923"/>
            <a:ext cx="1828800" cy="914400"/>
          </a:xfrm>
          <a:prstGeom prst="rect">
            <a:avLst/>
          </a:prstGeom>
        </p:spPr>
      </p:pic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rcRect l="-409" r="-409" t="0" b="0"/>
          <a:stretch/>
        </p:blipFill>
        <p:spPr>
          <a:xfrm>
            <a:off x="9525305" y="3738982"/>
            <a:ext cx="38405" cy="895198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10011766" y="3929177"/>
            <a:ext cx="10241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지루성 탈모</a:t>
            </a:r>
            <a:endParaRPr lang="en-US" sz="1300" dirty="0"/>
          </a:p>
        </p:txBody>
      </p:sp>
      <p:sp>
        <p:nvSpPr>
          <p:cNvPr id="35" name="Shape 22"/>
          <p:cNvSpPr/>
          <p:nvPr/>
        </p:nvSpPr>
        <p:spPr>
          <a:xfrm>
            <a:off x="10064801" y="4233672"/>
            <a:ext cx="733349" cy="209398"/>
          </a:xfrm>
          <a:prstGeom prst="rect">
            <a:avLst/>
          </a:prstGeom>
          <a:noFill/>
          <a:ln/>
        </p:spPr>
      </p:sp>
      <p:sp>
        <p:nvSpPr>
          <p:cNvPr id="36" name="Text 23"/>
          <p:cNvSpPr/>
          <p:nvPr/>
        </p:nvSpPr>
        <p:spPr>
          <a:xfrm>
            <a:off x="10064801" y="4233672"/>
            <a:ext cx="734263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HIGH</a:t>
            </a:r>
            <a:endParaRPr lang="en-US" sz="900" dirty="0"/>
          </a:p>
        </p:txBody>
      </p:sp>
      <p:sp>
        <p:nvSpPr>
          <p:cNvPr id="37" name="Shape 2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201" b="-201"/>
          <a:stretch/>
        </p:blipFill>
        <p:spPr>
          <a:xfrm>
            <a:off x="0" y="5943600"/>
            <a:ext cx="75895" cy="914400"/>
          </a:xfrm>
          <a:prstGeom prst="rect">
            <a:avLst/>
          </a:prstGeom>
        </p:spPr>
      </p:pic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>
            <a:alphaModFix amt="20000"/>
          </a:blip>
          <a:srcRect l="0" r="0" t="0" b="0"/>
          <a:stretch/>
        </p:blipFill>
        <p:spPr>
          <a:xfrm>
            <a:off x="11048695" y="6096305"/>
            <a:ext cx="1524305" cy="1524305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4134002" y="1339596"/>
            <a:ext cx="8055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irritation</a:t>
            </a:r>
            <a:endParaRPr lang="en-US" sz="1200" dirty="0"/>
          </a:p>
        </p:txBody>
      </p:sp>
      <p:sp>
        <p:nvSpPr>
          <p:cNvPr id="41" name="Text 26"/>
          <p:cNvSpPr txBox="1"/>
          <p:nvPr/>
        </p:nvSpPr>
        <p:spPr>
          <a:xfrm>
            <a:off x="838505" y="1712671"/>
            <a:ext cx="590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sebum</a:t>
            </a:r>
            <a:endParaRPr lang="en-US" sz="1200" dirty="0"/>
          </a:p>
        </p:txBody>
      </p:sp>
      <p:sp>
        <p:nvSpPr>
          <p:cNvPr id="42" name="Text 27"/>
          <p:cNvSpPr txBox="1"/>
          <p:nvPr/>
        </p:nvSpPr>
        <p:spPr>
          <a:xfrm>
            <a:off x="3695090" y="4512564"/>
            <a:ext cx="685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dryness</a:t>
            </a:r>
            <a:endParaRPr lang="en-US" sz="1200" dirty="0"/>
          </a:p>
        </p:txBody>
      </p:sp>
      <p:sp>
        <p:nvSpPr>
          <p:cNvPr id="43" name="Text 28"/>
          <p:cNvSpPr txBox="1"/>
          <p:nvPr/>
        </p:nvSpPr>
        <p:spPr>
          <a:xfrm>
            <a:off x="838505" y="3392424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itchy</a:t>
            </a:r>
            <a:endParaRPr lang="en-US" sz="1200" dirty="0"/>
          </a:p>
        </p:txBody>
      </p:sp>
      <p:sp>
        <p:nvSpPr>
          <p:cNvPr id="44" name="Text 29"/>
          <p:cNvSpPr txBox="1"/>
          <p:nvPr/>
        </p:nvSpPr>
        <p:spPr>
          <a:xfrm>
            <a:off x="4354373" y="3019349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트러블</a:t>
            </a:r>
            <a:endParaRPr lang="en-US" sz="1200" dirty="0"/>
          </a:p>
        </p:txBody>
      </p:sp>
      <p:sp>
        <p:nvSpPr>
          <p:cNvPr id="45" name="Text 30"/>
          <p:cNvSpPr txBox="1"/>
          <p:nvPr/>
        </p:nvSpPr>
        <p:spPr>
          <a:xfrm>
            <a:off x="4354373" y="2272284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붉어짐</a:t>
            </a:r>
            <a:endParaRPr lang="en-US" sz="1200" dirty="0"/>
          </a:p>
        </p:txBody>
      </p:sp>
      <p:sp>
        <p:nvSpPr>
          <p:cNvPr id="46" name="Text 31"/>
          <p:cNvSpPr txBox="1"/>
          <p:nvPr/>
        </p:nvSpPr>
        <p:spPr>
          <a:xfrm>
            <a:off x="4134002" y="4326026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냄새</a:t>
            </a:r>
            <a:endParaRPr lang="en-US" sz="1200" dirty="0"/>
          </a:p>
        </p:txBody>
      </p:sp>
      <p:sp>
        <p:nvSpPr>
          <p:cNvPr id="47" name="Text 32"/>
          <p:cNvSpPr txBox="1"/>
          <p:nvPr/>
        </p:nvSpPr>
        <p:spPr>
          <a:xfrm>
            <a:off x="838505" y="2646274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떡짐</a:t>
            </a:r>
            <a:endParaRPr lang="en-US" sz="1200" dirty="0"/>
          </a:p>
        </p:txBody>
      </p:sp>
      <p:sp>
        <p:nvSpPr>
          <p:cNvPr id="48" name="Text 33"/>
          <p:cNvSpPr txBox="1"/>
          <p:nvPr/>
        </p:nvSpPr>
        <p:spPr>
          <a:xfrm>
            <a:off x="1058875" y="152613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가려움</a:t>
            </a:r>
            <a:endParaRPr lang="en-US" sz="1800" dirty="0"/>
          </a:p>
        </p:txBody>
      </p:sp>
      <p:sp>
        <p:nvSpPr>
          <p:cNvPr id="49" name="Text 34"/>
          <p:cNvSpPr txBox="1"/>
          <p:nvPr/>
        </p:nvSpPr>
        <p:spPr>
          <a:xfrm>
            <a:off x="3475634" y="320588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민감성</a:t>
            </a:r>
            <a:endParaRPr lang="en-US" sz="1800" dirty="0"/>
          </a:p>
        </p:txBody>
      </p:sp>
      <p:sp>
        <p:nvSpPr>
          <p:cNvPr id="50" name="Text 35"/>
          <p:cNvSpPr txBox="1"/>
          <p:nvPr/>
        </p:nvSpPr>
        <p:spPr>
          <a:xfrm>
            <a:off x="2596896" y="3952951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비듬</a:t>
            </a:r>
            <a:endParaRPr lang="en-US" sz="1800" dirty="0"/>
          </a:p>
        </p:txBody>
      </p:sp>
      <p:sp>
        <p:nvSpPr>
          <p:cNvPr id="51" name="Text 36"/>
          <p:cNvSpPr txBox="1"/>
          <p:nvPr/>
        </p:nvSpPr>
        <p:spPr>
          <a:xfrm>
            <a:off x="3035808" y="2085746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기름</a:t>
            </a:r>
            <a:endParaRPr lang="en-US" sz="1800" dirty="0"/>
          </a:p>
        </p:txBody>
      </p:sp>
      <p:sp>
        <p:nvSpPr>
          <p:cNvPr id="52" name="Text 37"/>
          <p:cNvSpPr txBox="1"/>
          <p:nvPr/>
        </p:nvSpPr>
        <p:spPr>
          <a:xfrm>
            <a:off x="1058875" y="4139489"/>
            <a:ext cx="975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가늘어짐</a:t>
            </a:r>
            <a:endParaRPr lang="en-US" sz="1800" dirty="0"/>
          </a:p>
        </p:txBody>
      </p:sp>
      <p:sp>
        <p:nvSpPr>
          <p:cNvPr id="53" name="Text 38"/>
          <p:cNvSpPr txBox="1"/>
          <p:nvPr/>
        </p:nvSpPr>
        <p:spPr>
          <a:xfrm>
            <a:off x="2816352" y="1712671"/>
            <a:ext cx="98298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766E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각질</a:t>
            </a:r>
            <a:endParaRPr lang="en-US" sz="3000" dirty="0"/>
          </a:p>
        </p:txBody>
      </p:sp>
      <p:sp>
        <p:nvSpPr>
          <p:cNvPr id="54" name="Text 39"/>
          <p:cNvSpPr txBox="1"/>
          <p:nvPr/>
        </p:nvSpPr>
        <p:spPr>
          <a:xfrm>
            <a:off x="1278331" y="3579876"/>
            <a:ext cx="98298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766E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건조</a:t>
            </a:r>
            <a:endParaRPr lang="en-US" sz="3000" dirty="0"/>
          </a:p>
        </p:txBody>
      </p:sp>
      <p:sp>
        <p:nvSpPr>
          <p:cNvPr id="55" name="Text 40"/>
          <p:cNvSpPr txBox="1"/>
          <p:nvPr/>
        </p:nvSpPr>
        <p:spPr>
          <a:xfrm>
            <a:off x="3695090" y="2458822"/>
            <a:ext cx="98298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766E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</a:t>
            </a:r>
            <a:endParaRPr lang="en-US" sz="3000" dirty="0"/>
          </a:p>
        </p:txBody>
      </p:sp>
      <p:sp>
        <p:nvSpPr>
          <p:cNvPr id="56" name="Text 41"/>
          <p:cNvSpPr txBox="1"/>
          <p:nvPr/>
        </p:nvSpPr>
        <p:spPr>
          <a:xfrm>
            <a:off x="1058875" y="2085746"/>
            <a:ext cx="137617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3A8A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탈모</a:t>
            </a:r>
            <a:endParaRPr lang="en-US" sz="4200" dirty="0"/>
          </a:p>
        </p:txBody>
      </p:sp>
      <p:sp>
        <p:nvSpPr>
          <p:cNvPr id="57" name="Text 42"/>
          <p:cNvSpPr txBox="1"/>
          <p:nvPr/>
        </p:nvSpPr>
        <p:spPr>
          <a:xfrm>
            <a:off x="2376526" y="2832811"/>
            <a:ext cx="137617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3A8A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두피</a:t>
            </a:r>
            <a:endParaRPr lang="en-US" sz="420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3" b="-13"/>
          <a:stretch/>
        </p:blipFill>
        <p:spPr>
          <a:xfrm>
            <a:off x="5641848" y="2138782"/>
            <a:ext cx="1218895" cy="914400"/>
          </a:xfrm>
          <a:prstGeom prst="rect">
            <a:avLst/>
          </a:prstGeom>
        </p:spPr>
      </p:pic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rcRect l="-80" r="-80" t="0" b="0"/>
          <a:stretch/>
        </p:blipFill>
        <p:spPr>
          <a:xfrm>
            <a:off x="6109106" y="2328977"/>
            <a:ext cx="286207" cy="228600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5879592" y="2633472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강한 세정력</a:t>
            </a:r>
            <a:endParaRPr lang="en-US" sz="1200" dirty="0"/>
          </a:p>
        </p:txBody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3" b="-13"/>
          <a:stretch/>
        </p:blipFill>
        <p:spPr>
          <a:xfrm>
            <a:off x="5641848" y="3728923"/>
            <a:ext cx="1218895" cy="914400"/>
          </a:xfrm>
          <a:prstGeom prst="rect">
            <a:avLst/>
          </a:prstGeom>
        </p:spPr>
      </p:pic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6137453" y="3919118"/>
            <a:ext cx="228600" cy="228600"/>
          </a:xfrm>
          <a:prstGeom prst="rect">
            <a:avLst/>
          </a:prstGeom>
        </p:spPr>
      </p:pic>
      <p:sp>
        <p:nvSpPr>
          <p:cNvPr id="63" name="Text 44"/>
          <p:cNvSpPr txBox="1"/>
          <p:nvPr/>
        </p:nvSpPr>
        <p:spPr>
          <a:xfrm>
            <a:off x="5879592" y="4224528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약한 세정력</a:t>
            </a:r>
            <a:endParaRPr lang="en-US" sz="1200" dirty="0"/>
          </a:p>
        </p:txBody>
      </p:sp>
      <p:sp>
        <p:nvSpPr>
          <p:cNvPr id="64" name="Text 45"/>
          <p:cNvSpPr txBox="1"/>
          <p:nvPr/>
        </p:nvSpPr>
        <p:spPr>
          <a:xfrm>
            <a:off x="2167128" y="6248095"/>
            <a:ext cx="814639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목적에 따라 세정력을 달리하는 </a:t>
            </a:r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데이/나이트 듀얼 샴푸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활용이 필요합니다! </a:t>
            </a:r>
            <a:endParaRPr lang="en-US" sz="1800" dirty="0"/>
          </a:p>
        </p:txBody>
      </p:sp>
      <p:pic>
        <p:nvPicPr>
          <p:cNvPr id="65" name="Image 17" descr="preencoded.png">    </p:cNvPr>
          <p:cNvPicPr>
            <a:picLocks noChangeAspect="1"/>
          </p:cNvPicPr>
          <p:nvPr/>
        </p:nvPicPr>
        <p:blipFill>
          <a:blip r:embed="rId18"/>
          <a:srcRect l="-133" r="-133" t="0" b="0"/>
          <a:stretch/>
        </p:blipFill>
        <p:spPr>
          <a:xfrm>
            <a:off x="2457907" y="6295644"/>
            <a:ext cx="171907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2026-02-11T17:23:02Z</dcterms:created>
  <dcterms:modified xsi:type="dcterms:W3CDTF">2026-02-11T17:23:02Z</dcterms:modified>
</cp:coreProperties>
</file>